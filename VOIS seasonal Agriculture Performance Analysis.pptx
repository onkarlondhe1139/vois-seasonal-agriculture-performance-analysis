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4"/>
  </p:notesMasterIdLst>
  <p:handoutMasterIdLst>
    <p:handoutMasterId r:id="rId15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1" r:id="rId12"/>
    <p:sldId id="30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8" d="100"/>
          <a:sy n="88" d="100"/>
        </p:scale>
        <p:origin x="165" y="57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9/10/2026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9/10/2026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nkarlondhe1139/VOIS-seasonal-agriculture-performance-analysis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nkarlondhe1139/VOIS-seasonal-agriculture-performance-analysis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nkarlondhe1139/VOIS-seasonal-agriculture-performance-analysis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957" y="2914507"/>
            <a:ext cx="9971314" cy="620485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Project Title – </a:t>
            </a:r>
            <a:r>
              <a:rPr lang="en-IN" sz="3200" b="1" dirty="0"/>
              <a:t>Seasonal Agriculture Performance Analysis</a:t>
            </a:r>
            <a:endParaRPr lang="en-IN" sz="3200" b="1" dirty="0">
              <a:latin typeface="Bahnschrift SemiBold" panose="020B0502040204020203" pitchFamily="34" charset="0"/>
            </a:endParaRP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620487" y="3655498"/>
            <a:ext cx="6140386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AICTE STU ID : </a:t>
            </a:r>
            <a:r>
              <a:rPr lang="en-IN" dirty="0"/>
              <a:t>STU691884604e8cc1763214432</a:t>
            </a:r>
          </a:p>
          <a:p>
            <a:pPr>
              <a:lnSpc>
                <a:spcPct val="150000"/>
              </a:lnSpc>
            </a:pPr>
            <a:r>
              <a:rPr lang="en-IN" b="1" dirty="0"/>
              <a:t>Internship ID : </a:t>
            </a:r>
            <a:r>
              <a:rPr lang="en-IN" dirty="0"/>
              <a:t>INTERNSHIP_17830691666a4779eecfe8a</a:t>
            </a:r>
          </a:p>
          <a:p>
            <a:pPr>
              <a:lnSpc>
                <a:spcPct val="150000"/>
              </a:lnSpc>
            </a:pPr>
            <a:r>
              <a:rPr lang="en-US" b="1" dirty="0"/>
              <a:t>Student Name </a:t>
            </a:r>
            <a:r>
              <a:rPr lang="en-US" dirty="0"/>
              <a:t>: Onkar Abhiman Londhe</a:t>
            </a:r>
            <a:endParaRPr lang="en-IN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4602" y="2090057"/>
            <a:ext cx="6889206" cy="3752715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sz="1600" b="1" dirty="0"/>
              <a:t>Agricultural performance varies across seasons due to changes in environmental conditions, farming practices, resource availability, irrigation and market conditions.</a:t>
            </a:r>
          </a:p>
          <a:p>
            <a:pPr marL="0" indent="0">
              <a:buNone/>
            </a:pPr>
            <a:r>
              <a:rPr lang="en-IN" sz="1400" dirty="0"/>
              <a:t>The raw agricultural dataset does not directly reveal:</a:t>
            </a:r>
          </a:p>
          <a:p>
            <a:pPr lvl="1"/>
            <a:r>
              <a:rPr lang="en-IN" sz="1200" dirty="0"/>
              <a:t>Which season provides better agricultural performance </a:t>
            </a:r>
          </a:p>
          <a:p>
            <a:pPr lvl="1"/>
            <a:r>
              <a:rPr lang="en-IN" sz="1200" dirty="0"/>
              <a:t>How crop yield changes across seasons </a:t>
            </a:r>
          </a:p>
          <a:p>
            <a:pPr lvl="1"/>
            <a:r>
              <a:rPr lang="en-IN" sz="1200" dirty="0"/>
              <a:t>How environmental conditions affect yield </a:t>
            </a:r>
          </a:p>
          <a:p>
            <a:pPr lvl="1"/>
            <a:r>
              <a:rPr lang="en-IN" sz="1200" dirty="0"/>
              <a:t>How irrigation and water usage differ </a:t>
            </a:r>
          </a:p>
          <a:p>
            <a:pPr lvl="1"/>
            <a:r>
              <a:rPr lang="en-IN" sz="1200" dirty="0"/>
              <a:t>How production and profitability vary </a:t>
            </a:r>
          </a:p>
          <a:p>
            <a:pPr lvl="1"/>
            <a:r>
              <a:rPr lang="en-IN" sz="1200" dirty="0"/>
              <a:t>Which regions or crops show unusual performance </a:t>
            </a:r>
          </a:p>
          <a:p>
            <a:pPr marL="0" indent="0">
              <a:buNone/>
            </a:pPr>
            <a:endParaRPr lang="en-IN" sz="1400" b="1" dirty="0"/>
          </a:p>
          <a:p>
            <a:pPr marL="0" indent="0">
              <a:buNone/>
            </a:pPr>
            <a:r>
              <a:rPr lang="en-IN" sz="1400" b="1" dirty="0"/>
              <a:t>Problem</a:t>
            </a:r>
          </a:p>
          <a:p>
            <a:pPr marL="0" indent="0">
              <a:buNone/>
            </a:pPr>
            <a:r>
              <a:rPr lang="en-IN" sz="1400" b="1" dirty="0"/>
              <a:t>To </a:t>
            </a:r>
            <a:r>
              <a:rPr lang="en-IN" sz="1400" b="1" dirty="0" err="1"/>
              <a:t>analyze</a:t>
            </a:r>
            <a:r>
              <a:rPr lang="en-IN" sz="1400" b="1" dirty="0"/>
              <a:t> agricultural data across Kharif, Rabi and Zaid seasons and identify meaningful patterns, relationships, variations and performance differences for better agricultural planning.</a:t>
            </a:r>
            <a:endParaRPr lang="en-IN" sz="1400" dirty="0"/>
          </a:p>
          <a:p>
            <a:pPr lvl="0"/>
            <a:endParaRPr lang="en-IN" sz="1400" dirty="0"/>
          </a:p>
          <a:p>
            <a:pPr marL="0" indent="0">
              <a:lnSpc>
                <a:spcPct val="100000"/>
              </a:lnSpc>
              <a:buNone/>
            </a:pPr>
            <a:endParaRPr lang="en-IN" sz="14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59" y="250041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4FD7347-EDE3-7B5A-2C16-AE761701E08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7359" y="1081038"/>
            <a:ext cx="7876542" cy="2718215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7400" dirty="0"/>
              <a:t>This project applies Data Analytics and Visualization techniques to understand seasonal agricultural performance using the provided dataset.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sz="6400" b="1" dirty="0"/>
              <a:t>Dataset : </a:t>
            </a:r>
          </a:p>
          <a:p>
            <a:pPr lvl="1"/>
            <a:r>
              <a:rPr lang="en-IN" sz="6400" dirty="0"/>
              <a:t>4,000 agricultural records </a:t>
            </a:r>
          </a:p>
          <a:p>
            <a:pPr lvl="1"/>
            <a:r>
              <a:rPr lang="en-IN" sz="6400" dirty="0"/>
              <a:t>28 variables </a:t>
            </a:r>
          </a:p>
          <a:p>
            <a:pPr lvl="1"/>
            <a:r>
              <a:rPr lang="en-IN" sz="6400" dirty="0"/>
              <a:t>3 seasons: Kharif, Rabi, Zaid </a:t>
            </a:r>
          </a:p>
          <a:p>
            <a:pPr lvl="1"/>
            <a:r>
              <a:rPr lang="en-IN" sz="6400" dirty="0"/>
              <a:t>8 states </a:t>
            </a:r>
          </a:p>
          <a:p>
            <a:pPr lvl="1"/>
            <a:r>
              <a:rPr lang="en-IN" sz="6400" dirty="0"/>
              <a:t>10 districts </a:t>
            </a:r>
          </a:p>
          <a:p>
            <a:pPr lvl="1"/>
            <a:r>
              <a:rPr lang="en-IN" sz="6400" dirty="0"/>
              <a:t>8 crop categories</a:t>
            </a:r>
          </a:p>
          <a:p>
            <a:pPr marL="0" indent="0">
              <a:lnSpc>
                <a:spcPct val="150000"/>
              </a:lnSpc>
              <a:buNone/>
            </a:pPr>
            <a:endParaRPr lang="en-IN" sz="1800" dirty="0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A6052A1E-CB35-1123-3440-2BCA0699A91B}"/>
              </a:ext>
            </a:extLst>
          </p:cNvPr>
          <p:cNvSpPr txBox="1">
            <a:spLocks/>
          </p:cNvSpPr>
          <p:nvPr/>
        </p:nvSpPr>
        <p:spPr>
          <a:xfrm>
            <a:off x="3886200" y="2033847"/>
            <a:ext cx="10150929" cy="186709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1800" b="1" dirty="0"/>
              <a:t>Dataset Contains </a:t>
            </a:r>
            <a:r>
              <a:rPr lang="en-IN" sz="1800" dirty="0"/>
              <a:t>:</a:t>
            </a:r>
          </a:p>
          <a:p>
            <a:pPr marL="457200" lvl="1" indent="0">
              <a:buNone/>
            </a:pPr>
            <a:r>
              <a:rPr lang="en-IN" sz="1600" b="1" dirty="0"/>
              <a:t>Analysis Performed</a:t>
            </a:r>
          </a:p>
          <a:p>
            <a:pPr lvl="1"/>
            <a:r>
              <a:rPr lang="en-IN" sz="1600" dirty="0"/>
              <a:t>Data cleaning and preprocessing </a:t>
            </a:r>
          </a:p>
          <a:p>
            <a:pPr lvl="1"/>
            <a:r>
              <a:rPr lang="en-IN" sz="1600" dirty="0"/>
              <a:t>Exploratory Data Analysis </a:t>
            </a:r>
          </a:p>
          <a:p>
            <a:pPr lvl="1"/>
            <a:r>
              <a:rPr lang="en-IN" sz="1600" dirty="0"/>
              <a:t>Seasonal performance comparison </a:t>
            </a:r>
          </a:p>
          <a:p>
            <a:pPr lvl="1"/>
            <a:r>
              <a:rPr lang="en-IN" sz="1600" dirty="0"/>
              <a:t>Crop and district analysis </a:t>
            </a:r>
          </a:p>
          <a:p>
            <a:pPr lvl="1"/>
            <a:r>
              <a:rPr lang="en-IN" sz="1600" dirty="0"/>
              <a:t>Environmental condition analysis </a:t>
            </a:r>
          </a:p>
          <a:p>
            <a:pPr lvl="1"/>
            <a:r>
              <a:rPr lang="en-IN" sz="1600" dirty="0"/>
              <a:t>Irrigation and water-use analysis </a:t>
            </a:r>
          </a:p>
          <a:p>
            <a:pPr lvl="1"/>
            <a:r>
              <a:rPr lang="en-IN" sz="1600" dirty="0"/>
              <a:t>Cost, revenue, profit and ROI analysis </a:t>
            </a:r>
          </a:p>
          <a:p>
            <a:pPr lvl="1"/>
            <a:r>
              <a:rPr lang="en-IN" sz="1600" dirty="0"/>
              <a:t>Correlation and statistical analysis </a:t>
            </a:r>
          </a:p>
          <a:p>
            <a:pPr lvl="1"/>
            <a:r>
              <a:rPr lang="en-IN" sz="1600" dirty="0"/>
              <a:t>Outlier/anomaly analysis </a:t>
            </a:r>
          </a:p>
          <a:p>
            <a:pPr lvl="1"/>
            <a:r>
              <a:rPr lang="en-IN" sz="1600" dirty="0"/>
              <a:t>Geographic visualization using maps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IN" sz="1800" dirty="0"/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4A1D6DB8-5053-6088-EACA-AA5D8B572368}"/>
              </a:ext>
            </a:extLst>
          </p:cNvPr>
          <p:cNvSpPr txBox="1">
            <a:spLocks/>
          </p:cNvSpPr>
          <p:nvPr/>
        </p:nvSpPr>
        <p:spPr>
          <a:xfrm>
            <a:off x="467359" y="4645920"/>
            <a:ext cx="3772132" cy="20606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1600" b="1" dirty="0"/>
              <a:t>Goal</a:t>
            </a:r>
          </a:p>
          <a:p>
            <a:pPr marL="0" indent="0">
              <a:buNone/>
            </a:pPr>
            <a:r>
              <a:rPr lang="en-IN" sz="1400" dirty="0"/>
              <a:t>Convert raw agricultural data into meaningful, evidence-based insights and recommendations for seasonal agricultural planning.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 build="p"/>
      <p:bldP spid="9" grpId="0" build="p"/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2126592"/>
            <a:ext cx="3279141" cy="405021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sz="1400" b="1" dirty="0"/>
              <a:t>Primary End Users</a:t>
            </a:r>
          </a:p>
          <a:p>
            <a:pPr marL="0" indent="0">
              <a:buNone/>
            </a:pPr>
            <a:endParaRPr lang="en-IN" sz="1400" b="1" dirty="0"/>
          </a:p>
          <a:p>
            <a:pPr marL="0" indent="0">
              <a:buNone/>
            </a:pPr>
            <a:r>
              <a:rPr lang="en-IN" sz="1400" b="1" dirty="0"/>
              <a:t>🌾 Farmers</a:t>
            </a:r>
            <a:endParaRPr lang="en-IN" sz="1400" dirty="0"/>
          </a:p>
          <a:p>
            <a:pPr lvl="0"/>
            <a:r>
              <a:rPr lang="en-IN" sz="1400" dirty="0"/>
              <a:t>Select suitable crops and seasons </a:t>
            </a:r>
          </a:p>
          <a:p>
            <a:pPr lvl="0"/>
            <a:r>
              <a:rPr lang="en-IN" sz="1400" dirty="0"/>
              <a:t>Understand yield patterns </a:t>
            </a:r>
          </a:p>
          <a:p>
            <a:pPr lvl="0"/>
            <a:r>
              <a:rPr lang="en-IN" sz="1400" dirty="0"/>
              <a:t>Improve resource utilization </a:t>
            </a:r>
          </a:p>
          <a:p>
            <a:pPr marL="0" indent="0">
              <a:buNone/>
            </a:pPr>
            <a:r>
              <a:rPr lang="en-IN" sz="1400" b="1" dirty="0"/>
              <a:t>🏛️ Agricultural Departments</a:t>
            </a:r>
            <a:endParaRPr lang="en-IN" sz="1400" dirty="0"/>
          </a:p>
          <a:p>
            <a:pPr lvl="0"/>
            <a:r>
              <a:rPr lang="en-IN" sz="1400" dirty="0"/>
              <a:t>Support seasonal agricultural planning </a:t>
            </a:r>
          </a:p>
          <a:p>
            <a:pPr lvl="0"/>
            <a:r>
              <a:rPr lang="en-IN" sz="1400" dirty="0"/>
              <a:t>Identify regional performance differences </a:t>
            </a:r>
          </a:p>
          <a:p>
            <a:pPr lvl="0"/>
            <a:r>
              <a:rPr lang="en-IN" sz="1400" dirty="0"/>
              <a:t>Plan resource allocation </a:t>
            </a:r>
          </a:p>
          <a:p>
            <a:pPr marL="0" indent="0">
              <a:buNone/>
            </a:pPr>
            <a:r>
              <a:rPr lang="en-IN" sz="1400" b="1" dirty="0"/>
              <a:t>💧 Irrigation &amp; Water Management Authorities</a:t>
            </a:r>
            <a:endParaRPr lang="en-IN" sz="1400" dirty="0"/>
          </a:p>
          <a:p>
            <a:pPr lvl="0"/>
            <a:r>
              <a:rPr lang="en-IN" sz="1400" dirty="0" err="1"/>
              <a:t>Analyze</a:t>
            </a:r>
            <a:r>
              <a:rPr lang="en-IN" sz="1400" dirty="0"/>
              <a:t> water requirements </a:t>
            </a:r>
          </a:p>
          <a:p>
            <a:pPr lvl="0"/>
            <a:r>
              <a:rPr lang="en-IN" sz="1400" dirty="0"/>
              <a:t>Compare irrigation methods </a:t>
            </a:r>
          </a:p>
          <a:p>
            <a:pPr lvl="0"/>
            <a:r>
              <a:rPr lang="en-IN" sz="1400" dirty="0"/>
              <a:t>Support efficient water management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14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4CC81CE0-6AF2-4468-A0F3-205C52B7642E}"/>
              </a:ext>
            </a:extLst>
          </p:cNvPr>
          <p:cNvSpPr txBox="1">
            <a:spLocks/>
          </p:cNvSpPr>
          <p:nvPr/>
        </p:nvSpPr>
        <p:spPr>
          <a:xfrm>
            <a:off x="4456429" y="2607129"/>
            <a:ext cx="3279141" cy="35052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1200" b="1" dirty="0"/>
              <a:t>📊 Agricultural Analysts &amp; Researchers</a:t>
            </a:r>
            <a:endParaRPr lang="en-IN" sz="1200" dirty="0"/>
          </a:p>
          <a:p>
            <a:pPr lvl="0"/>
            <a:r>
              <a:rPr lang="en-IN" sz="1200" dirty="0"/>
              <a:t>Study seasonal trends </a:t>
            </a:r>
          </a:p>
          <a:p>
            <a:pPr lvl="0"/>
            <a:r>
              <a:rPr lang="en-IN" sz="1200" dirty="0" err="1"/>
              <a:t>Analyze</a:t>
            </a:r>
            <a:r>
              <a:rPr lang="en-IN" sz="1200" dirty="0"/>
              <a:t> environmental relationships </a:t>
            </a:r>
          </a:p>
          <a:p>
            <a:pPr lvl="0"/>
            <a:r>
              <a:rPr lang="en-IN" sz="1200" dirty="0"/>
              <a:t>Conduct agricultural research </a:t>
            </a:r>
          </a:p>
          <a:p>
            <a:pPr marL="0" indent="0">
              <a:buNone/>
            </a:pPr>
            <a:r>
              <a:rPr lang="en-IN" sz="1200" b="1" dirty="0"/>
              <a:t>💼 Agribusiness &amp; Agri-Tech Companies</a:t>
            </a:r>
            <a:endParaRPr lang="en-IN" sz="1200" dirty="0"/>
          </a:p>
          <a:p>
            <a:pPr lvl="0"/>
            <a:r>
              <a:rPr lang="en-IN" sz="1200" dirty="0"/>
              <a:t>Understand crop and market performance </a:t>
            </a:r>
          </a:p>
          <a:p>
            <a:pPr lvl="0"/>
            <a:r>
              <a:rPr lang="en-IN" sz="1200" dirty="0"/>
              <a:t>Support data-driven agricultural decisions </a:t>
            </a:r>
          </a:p>
          <a:p>
            <a:pPr lvl="0"/>
            <a:r>
              <a:rPr lang="en-IN" sz="1200" dirty="0"/>
              <a:t>Develop agricultural decision-support solutions </a:t>
            </a:r>
          </a:p>
          <a:p>
            <a:pPr marL="0" indent="0">
              <a:buNone/>
            </a:pPr>
            <a:r>
              <a:rPr lang="en-IN" sz="1200" b="1" dirty="0"/>
              <a:t>🎓 Students &amp; Academics</a:t>
            </a:r>
            <a:endParaRPr lang="en-IN" sz="1200" dirty="0"/>
          </a:p>
          <a:p>
            <a:pPr lvl="0"/>
            <a:r>
              <a:rPr lang="en-IN" sz="1200" dirty="0"/>
              <a:t>Perform agricultural data analysis </a:t>
            </a:r>
          </a:p>
          <a:p>
            <a:pPr lvl="0"/>
            <a:r>
              <a:rPr lang="en-IN" sz="1200" dirty="0"/>
              <a:t>Develop research and analytical models</a:t>
            </a:r>
          </a:p>
          <a:p>
            <a:pPr marL="0" indent="0" algn="just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CD254F-56FB-2776-E011-EAAFA562AE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7959815"/>
              </p:ext>
            </p:extLst>
          </p:nvPr>
        </p:nvGraphicFramePr>
        <p:xfrm>
          <a:off x="1955800" y="1676399"/>
          <a:ext cx="6861630" cy="4274664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2066471">
                  <a:extLst>
                    <a:ext uri="{9D8B030D-6E8A-4147-A177-3AD203B41FA5}">
                      <a16:colId xmlns:a16="http://schemas.microsoft.com/office/drawing/2014/main" val="635375732"/>
                    </a:ext>
                  </a:extLst>
                </a:gridCol>
                <a:gridCol w="4795159">
                  <a:extLst>
                    <a:ext uri="{9D8B030D-6E8A-4147-A177-3AD203B41FA5}">
                      <a16:colId xmlns:a16="http://schemas.microsoft.com/office/drawing/2014/main" val="3790886178"/>
                    </a:ext>
                  </a:extLst>
                </a:gridCol>
              </a:tblGrid>
              <a:tr h="5886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Technology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1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2996084"/>
                  </a:ext>
                </a:extLst>
              </a:tr>
              <a:tr h="588606">
                <a:tc>
                  <a:txBody>
                    <a:bodyPr/>
                    <a:lstStyle/>
                    <a:p>
                      <a:r>
                        <a:rPr lang="en-IN" dirty="0"/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Core programming and analysis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797471"/>
                  </a:ext>
                </a:extLst>
              </a:tr>
              <a:tr h="588606">
                <a:tc>
                  <a:txBody>
                    <a:bodyPr/>
                    <a:lstStyle/>
                    <a:p>
                      <a:r>
                        <a:rPr lang="en-IN" dirty="0"/>
                        <a:t>Pandas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 loading, cleaning, grouping and aggregation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8338533"/>
                  </a:ext>
                </a:extLst>
              </a:tr>
              <a:tr h="588606">
                <a:tc>
                  <a:txBody>
                    <a:bodyPr/>
                    <a:lstStyle/>
                    <a:p>
                      <a:r>
                        <a:rPr lang="en-IN" dirty="0"/>
                        <a:t>NumPy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Numerical calculations and feature engineering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6412147"/>
                  </a:ext>
                </a:extLst>
              </a:tr>
              <a:tr h="588606">
                <a:tc>
                  <a:txBody>
                    <a:bodyPr/>
                    <a:lstStyle/>
                    <a:p>
                      <a:r>
                        <a:rPr lang="en-IN" dirty="0"/>
                        <a:t>Matplotlib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 visualization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4214741"/>
                  </a:ext>
                </a:extLst>
              </a:tr>
              <a:tr h="588606">
                <a:tc>
                  <a:txBody>
                    <a:bodyPr/>
                    <a:lstStyle/>
                    <a:p>
                      <a:r>
                        <a:rPr lang="en-IN" dirty="0"/>
                        <a:t>Seaborn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Statistical visualization and correlation heatmap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01768"/>
                  </a:ext>
                </a:extLst>
              </a:tr>
              <a:tr h="588606">
                <a:tc>
                  <a:txBody>
                    <a:bodyPr/>
                    <a:lstStyle/>
                    <a:p>
                      <a:r>
                        <a:rPr lang="en-IN" dirty="0"/>
                        <a:t>Jupyter Notebook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Interactive development and documentation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84196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 err="1">
                <a:solidFill>
                  <a:srgbClr val="0070C0"/>
                </a:solidFill>
                <a:hlinkClick r:id="rId3"/>
              </a:rPr>
              <a:t>Github</a:t>
            </a:r>
            <a:r>
              <a:rPr lang="en-GB" sz="2000" b="0" u="sng" dirty="0">
                <a:solidFill>
                  <a:srgbClr val="0070C0"/>
                </a:solidFill>
                <a:hlinkClick r:id="rId3"/>
              </a:rPr>
              <a:t> Link </a:t>
            </a:r>
            <a:endParaRPr lang="en-IN" b="0" u="sng" dirty="0">
              <a:solidFill>
                <a:srgbClr val="0070C0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346E763-8A18-CDDA-5752-2FD59292554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782913" y="1939565"/>
            <a:ext cx="7167490" cy="3207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79B4A24F-1958-1EAC-4E97-0F4035F895CB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 err="1">
                <a:solidFill>
                  <a:srgbClr val="0070C0"/>
                </a:solidFill>
                <a:hlinkClick r:id="rId3"/>
              </a:rPr>
              <a:t>Github</a:t>
            </a:r>
            <a:r>
              <a:rPr lang="en-GB" sz="2000" b="0" u="sng" dirty="0">
                <a:solidFill>
                  <a:srgbClr val="0070C0"/>
                </a:solidFill>
                <a:hlinkClick r:id="rId3"/>
              </a:rPr>
              <a:t>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41DC1D-7EA3-31FB-0325-17740CF028D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95084" y="1776580"/>
            <a:ext cx="7167490" cy="3533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18EDA220-A275-5502-87A0-957B48A3A704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 err="1">
                <a:solidFill>
                  <a:srgbClr val="0070C0"/>
                </a:solidFill>
                <a:hlinkClick r:id="rId3"/>
              </a:rPr>
              <a:t>Github</a:t>
            </a:r>
            <a:r>
              <a:rPr lang="en-GB" sz="2000" b="0" u="sng" dirty="0">
                <a:solidFill>
                  <a:srgbClr val="0070C0"/>
                </a:solidFill>
                <a:hlinkClick r:id="rId3"/>
              </a:rPr>
              <a:t>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34F848E-FC64-A3C3-A113-610F951FA3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5198" y="1511045"/>
            <a:ext cx="7167490" cy="3977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6085" y="2895427"/>
            <a:ext cx="4342499" cy="8108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658</TotalTime>
  <Words>380</Words>
  <Application>Microsoft Office PowerPoint</Application>
  <PresentationFormat>Widescreen</PresentationFormat>
  <Paragraphs>90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Bahnschrift SemiBold</vt:lpstr>
      <vt:lpstr>Calibri</vt:lpstr>
      <vt:lpstr>Trebuchet MS</vt:lpstr>
      <vt:lpstr>Wingdings</vt:lpstr>
      <vt:lpstr>Wingdings 3</vt:lpstr>
      <vt:lpstr>Facet</vt:lpstr>
      <vt:lpstr>Project Title – Seasonal Agriculture Performance Analysis</vt:lpstr>
      <vt:lpstr>PROBLEM  STATEMENT</vt:lpstr>
      <vt:lpstr>Project Description  </vt:lpstr>
      <vt:lpstr>WHO ARE THE END USERS?</vt:lpstr>
      <vt:lpstr>Technology Used</vt:lpstr>
      <vt:lpstr>RESULTS </vt:lpstr>
      <vt:lpstr>RESULTS </vt:lpstr>
      <vt:lpstr>RESULTS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Onkar Londhe</cp:lastModifiedBy>
  <cp:revision>79</cp:revision>
  <dcterms:created xsi:type="dcterms:W3CDTF">2021-07-11T13:13:15Z</dcterms:created>
  <dcterms:modified xsi:type="dcterms:W3CDTF">2026-09-10T05:32:16Z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